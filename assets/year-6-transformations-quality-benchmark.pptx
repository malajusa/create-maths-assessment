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8c0d356e6d743f3" /><Relationship Type="http://schemas.openxmlformats.org/officeDocument/2006/relationships/extended-properties" Target="/docProps/app.xml" Id="R1b2f332ae02a488b" /><Relationship Type="http://schemas.openxmlformats.org/officeDocument/2006/relationships/officeDocument" Target="/ppt/presentation.xml" Id="R7a80a7ec3b1644c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7f40a6bbe314e8b"/>
  </p:sldMasterIdLst>
  <p:notesMasterIdLst>
    <p:notesMasterId xmlns:r="http://schemas.openxmlformats.org/officeDocument/2006/relationships" r:id="R4d36ce8f3c5a4e8c"/>
  </p:notesMasterIdLst>
  <p:sldIdLst>
    <p:sldId xmlns:r="http://schemas.openxmlformats.org/officeDocument/2006/relationships" id="256" r:id="R87c96a21ef2e4390"/>
    <p:sldId xmlns:r="http://schemas.openxmlformats.org/officeDocument/2006/relationships" id="257" r:id="Re33ef44d7a034c3f"/>
    <p:sldId xmlns:r="http://schemas.openxmlformats.org/officeDocument/2006/relationships" id="258" r:id="R69749d40e44648bc"/>
  </p:sldIdLst>
  <p:sldSz cx="7560000" cy="10692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051ce035664460a" /><Relationship Type="http://schemas.openxmlformats.org/officeDocument/2006/relationships/slideMaster" Target="/ppt/slideMasters/slideMaster1.xml" Id="R07f40a6bbe314e8b" /><Relationship Type="http://schemas.openxmlformats.org/officeDocument/2006/relationships/notesMaster" Target="/ppt/notesMasters/notesMaster1.xml" Id="R4d36ce8f3c5a4e8c" /><Relationship Type="http://schemas.openxmlformats.org/officeDocument/2006/relationships/presProps" Target="/ppt/presProps.xml" Id="Re84ff95f13aa45ae" /><Relationship Type="http://schemas.openxmlformats.org/officeDocument/2006/relationships/tableStyles" Target="/ppt/tableStyles.xml" Id="R89c9b8d8b7774548" /><Relationship Type="http://schemas.openxmlformats.org/officeDocument/2006/relationships/slide" Target="/ppt/slides/slide1.xml" Id="R87c96a21ef2e4390" /><Relationship Type="http://schemas.openxmlformats.org/officeDocument/2006/relationships/slide" Target="/ppt/slides/slide2.xml" Id="Re33ef44d7a034c3f" /><Relationship Type="http://schemas.openxmlformats.org/officeDocument/2006/relationships/slide" Target="/ppt/slides/slide3.xml" Id="R69749d40e44648b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f840ce45b5f406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4340af3fd144c76" /><Relationship Type="http://schemas.openxmlformats.org/officeDocument/2006/relationships/notesMaster" Target="/ppt/notesMasters/notesMaster1.xml" Id="R87f319cd3ac6445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3abda0d805246d1" /><Relationship Type="http://schemas.openxmlformats.org/officeDocument/2006/relationships/notesMaster" Target="/ppt/notesMasters/notesMaster1.xml" Id="R7225d15ce55246d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899364a86a94481" /><Relationship Type="http://schemas.openxmlformats.org/officeDocument/2006/relationships/notesMaster" Target="/ppt/notesMasters/notesMaster1.xml" Id="R67c663f43d8a4bd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School Curriculum and Standards Authority, Western Australian Curriculum: Mathematics - Scope and sequence (for implementation in 2026), Year 6, WA6MMGTW1 and WA6MMGTW5.</a:t>
            </a:r>
          </a:p>
          <a:p xmlns:a="http://schemas.openxmlformats.org/drawingml/2006/main">
            <a:r>
              <a:t>- Assessment questions and diagrams are original content created for this assessment.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School Curriculum and Standards Authority, Western Australian Curriculum: Mathematics - Scope and sequence (for implementation in 2026), Year 6, WA6MMGTW1 and WA6MMGTW5.</a:t>
            </a:r>
          </a:p>
          <a:p xmlns:a="http://schemas.openxmlformats.org/drawingml/2006/main">
            <a:r>
              <a:t>- Assessment questions and diagrams are original content created for this assessment.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School Curriculum and Standards Authority, Western Australian Curriculum: Mathematics - Scope and sequence (for implementation in 2026), Year 6, WA6MMGTW1 and WA6MMGTW5.</a:t>
            </a:r>
          </a:p>
          <a:p xmlns:a="http://schemas.openxmlformats.org/drawingml/2006/main">
            <a:r>
              <a:t>- Assessment questions and diagrams are original content created for this assessment.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1926de7ad81432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f9faf09269149bc" /><Relationship Type="http://schemas.openxmlformats.org/officeDocument/2006/relationships/slideLayout" Target="/ppt/slideLayouts/slideLayout1.xml" Id="R11fc25119736434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1fc25119736434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8128a7053b41b6" /><Relationship Type="http://schemas.openxmlformats.org/officeDocument/2006/relationships/notesSlide" Target="/ppt/notesSlides/notesSlide1.xml" Id="Recaff44b09304a3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e1d825a7aa4593" /><Relationship Type="http://schemas.openxmlformats.org/officeDocument/2006/relationships/notesSlide" Target="/ppt/notesSlides/notesSlide2.xml" Id="R66737a460b9640e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6a9e7b23934cd2" /><Relationship Type="http://schemas.openxmlformats.org/officeDocument/2006/relationships/notesSlide" Target="/ppt/notesSlides/notesSlide3.xml" Id="Rdc2d90eafee241f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294E4A3-F2EE-437E-B94A-94AC3D58D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23825"/>
            <a:ext cx="447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8" b="1">
                <a:solidFill>
                  <a:srgbClr val="596274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596274"/>
                </a:solidFill>
                <a:latin typeface="Aptos"/>
                <a:ea typeface="Aptos"/>
                <a:cs typeface="Aptos"/>
              </a:rPr>
              <a:t>YEAR 6 MATHEMATICS ASSESSMENT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3B5166-849B-426A-925B-6869E71E5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95275"/>
            <a:ext cx="36195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Transformations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92DA27-8C4B-4CF7-ACB3-41D64653D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27622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Name: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2EDD49-FD18-49D1-BE2A-BC0470FEF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66725"/>
            <a:ext cx="2749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203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D0E63F-EBBE-4830-9E33-65A0089BB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542925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Date: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61F27C-9EE7-4432-A1DF-9D8C1F9E4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723900"/>
            <a:ext cx="27879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203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DE8A9A-76BA-471B-99BC-FE4E3680E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7429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8" b="0">
                <a:solidFill>
                  <a:srgbClr val="596274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96274"/>
                </a:solidFill>
                <a:latin typeface="Aptos"/>
                <a:ea typeface="Aptos"/>
                <a:cs typeface="Aptos"/>
              </a:rPr>
              <a:t>Show your thinking where space is provided. Total: 20 marks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92EA4E-A975-4716-AB41-3086A2DF2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000125"/>
            <a:ext cx="35133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7B849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284E59-3D82-46D3-9A2B-44D07AA7F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076325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Q1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2A53F1-48AA-491D-8E86-26386287A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1325" y="1085850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38" b="1">
                <a:solidFill>
                  <a:srgbClr val="596274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596274"/>
                </a:solidFill>
                <a:latin typeface="Aptos"/>
                <a:ea typeface="Aptos"/>
                <a:cs typeface="Aptos"/>
              </a:rPr>
              <a:t>[1 mark]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2D7BBA-E2BC-438F-91BF-2C9C44FF9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1343025"/>
            <a:ext cx="330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5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15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Name the transformation shown.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D49723-0CA6-4549-BF23-5C733FEC2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0000" y="1000125"/>
            <a:ext cx="35133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7B849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81B891-1F09-4328-A48D-20033A085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5250" y="1076325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Q2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B91022-BDBD-471A-A874-F7A97E924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4625" y="1085850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38" b="1">
                <a:solidFill>
                  <a:srgbClr val="596274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596274"/>
                </a:solidFill>
                <a:latin typeface="Aptos"/>
                <a:ea typeface="Aptos"/>
                <a:cs typeface="Aptos"/>
              </a:rPr>
              <a:t>[1 mark]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D4F311-0A18-46DF-9863-B0C8B0740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4775" y="1343025"/>
            <a:ext cx="330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5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15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Name the transformation shown.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6FBABB-7503-422B-899A-5323D4F64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095625"/>
            <a:ext cx="3513300" cy="3190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7B849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92D27FC-6CED-443B-8665-9C68F25CB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171825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Q3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2953A6A-6312-4944-A79C-A1EB6205F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1325" y="3181350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38" b="1">
                <a:solidFill>
                  <a:srgbClr val="596274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596274"/>
                </a:solidFill>
                <a:latin typeface="Aptos"/>
                <a:ea typeface="Aptos"/>
                <a:cs typeface="Aptos"/>
              </a:rPr>
              <a:t>[2 marks]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C943356-FA52-4079-9AC9-0938E245A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3438525"/>
            <a:ext cx="330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5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15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Translate triangle ABC 3 squares right and 2 squares up. Draw A'B'C'.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6D73265-298A-423A-BC13-3B1A09CB2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0000" y="3095625"/>
            <a:ext cx="3513300" cy="3190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7B849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A41E3B5-3D98-490E-8AC0-52D308C35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5250" y="3171825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Q4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37DC8DA-5061-42C5-AE1E-F81683EA0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4625" y="3181350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38" b="1">
                <a:solidFill>
                  <a:srgbClr val="596274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596274"/>
                </a:solidFill>
                <a:latin typeface="Aptos"/>
                <a:ea typeface="Aptos"/>
                <a:cs typeface="Aptos"/>
              </a:rPr>
              <a:t>[2 marks]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94896AF-FBA4-4B99-B247-1D505B66B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4775" y="3438525"/>
            <a:ext cx="330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5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15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Reflect the L-shape across the mirror line m.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4E8BC67-5397-49DA-9DFB-C85570620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286500"/>
            <a:ext cx="3513300" cy="413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7B849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7108BEC-8731-4832-89C2-D159C7FAC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362700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Q5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82BD912-0734-4799-A14C-19CFE4897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1325" y="6372225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38" b="1">
                <a:solidFill>
                  <a:srgbClr val="596274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596274"/>
                </a:solidFill>
                <a:latin typeface="Aptos"/>
                <a:ea typeface="Aptos"/>
                <a:cs typeface="Aptos"/>
              </a:rPr>
              <a:t>[3 marks]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91AB5BC-9937-4A31-BA09-0FC857CBF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6629400"/>
            <a:ext cx="330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5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15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Rotate triangle ABC 90° clockwise about point P. Draw and label A'B'C'.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F732369-1D0E-4DCE-8A9A-5481690DF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0000" y="6286500"/>
            <a:ext cx="3513300" cy="413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7B849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6B66FB3-E57B-490F-A68A-FEFD4C8D4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5250" y="6362700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Q6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8987EEE-F831-45EB-BD1E-B2F6D899B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4625" y="6372225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38" b="1">
                <a:solidFill>
                  <a:srgbClr val="596274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596274"/>
                </a:solidFill>
                <a:latin typeface="Aptos"/>
                <a:ea typeface="Aptos"/>
                <a:cs typeface="Aptos"/>
              </a:rPr>
              <a:t>[3 marks]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ADC859D-B2C7-4B43-82D2-8CC3A6770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4775" y="6629400"/>
            <a:ext cx="330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5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15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Describe each transformation exactly: A to B, then B to C.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F55E66F-3E67-4A13-BBE8-07383B61B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1924050"/>
            <a:ext cx="523875" cy="666750"/>
          </a:xfrm>
          <a:custGeom xmlns:a="http://schemas.openxmlformats.org/drawingml/2006/main">
            <a:pathLst>
              <a:path w="523875" h="666750">
                <a:moveTo>
                  <a:pt x="0" y="0"/>
                </a:moveTo>
                <a:lnTo>
                  <a:pt x="523875" y="0"/>
                </a:lnTo>
                <a:lnTo>
                  <a:pt x="523875" y="209550"/>
                </a:lnTo>
                <a:lnTo>
                  <a:pt x="228600" y="209550"/>
                </a:lnTo>
                <a:lnTo>
                  <a:pt x="228600" y="666750"/>
                </a:lnTo>
                <a:lnTo>
                  <a:pt x="0" y="666750"/>
                </a:lnTo>
                <a:close/>
              </a:path>
            </a:pathLst>
          </a:custGeom>
          <a:solidFill xmlns:a="http://schemas.openxmlformats.org/drawingml/2006/main">
            <a:srgbClr val="DCE2E9"/>
          </a:solidFill>
          <a:ln xmlns:a="http://schemas.openxmlformats.org/drawingml/2006/main" w="15240">
            <a:solidFill>
              <a:srgbClr val="17203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C49C964-71BD-4FC1-877A-6BA38691B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105025"/>
            <a:ext cx="504825" cy="2762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7DCE4"/>
          </a:solidFill>
          <a:ln xmlns:a="http://schemas.openxmlformats.org/drawingml/2006/main" w="9525">
            <a:solidFill>
              <a:srgbClr val="7B8494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AA3D75B-E6A6-4231-94F0-89206C94B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1924050"/>
            <a:ext cx="523875" cy="666750"/>
          </a:xfrm>
          <a:custGeom xmlns:a="http://schemas.openxmlformats.org/drawingml/2006/main">
            <a:pathLst>
              <a:path w="523875" h="666750">
                <a:moveTo>
                  <a:pt x="0" y="0"/>
                </a:moveTo>
                <a:lnTo>
                  <a:pt x="523875" y="0"/>
                </a:lnTo>
                <a:lnTo>
                  <a:pt x="523875" y="209550"/>
                </a:lnTo>
                <a:lnTo>
                  <a:pt x="228600" y="209550"/>
                </a:lnTo>
                <a:lnTo>
                  <a:pt x="228600" y="666750"/>
                </a:lnTo>
                <a:lnTo>
                  <a:pt x="0" y="666750"/>
                </a:lnTo>
                <a:close/>
              </a:path>
            </a:pathLst>
          </a:custGeom>
          <a:solidFill xmlns:a="http://schemas.openxmlformats.org/drawingml/2006/main">
            <a:srgbClr val="DCE2E9"/>
          </a:solidFill>
          <a:ln xmlns:a="http://schemas.openxmlformats.org/drawingml/2006/main" w="15240">
            <a:solidFill>
              <a:srgbClr val="172033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7997D2F-09BE-4E7F-A712-A15557541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271462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0">
                <a:solidFill>
                  <a:srgbClr val="596274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96274"/>
                </a:solidFill>
                <a:latin typeface="Aptos"/>
                <a:ea typeface="Aptos"/>
                <a:cs typeface="Aptos"/>
              </a:rPr>
              <a:t>Answer: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C688526-098E-4D64-95E7-2B8E62397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886075"/>
            <a:ext cx="2646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7B8494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91DAF27-6A40-49CB-BEF7-076BA71E3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4375" y="1990725"/>
            <a:ext cx="495300" cy="590550"/>
          </a:xfrm>
          <a:custGeom xmlns:a="http://schemas.openxmlformats.org/drawingml/2006/main">
            <a:pathLst>
              <a:path w="495300" h="590550">
                <a:moveTo>
                  <a:pt x="0" y="590550"/>
                </a:moveTo>
                <a:lnTo>
                  <a:pt x="495300" y="590550"/>
                </a:lnTo>
                <a:lnTo>
                  <a:pt x="142875" y="0"/>
                </a:lnTo>
                <a:close/>
              </a:path>
            </a:pathLst>
          </a:custGeom>
          <a:solidFill xmlns:a="http://schemas.openxmlformats.org/drawingml/2006/main">
            <a:srgbClr val="DCE2E9"/>
          </a:solidFill>
          <a:ln xmlns:a="http://schemas.openxmlformats.org/drawingml/2006/main" w="15240">
            <a:solidFill>
              <a:srgbClr val="17203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5CAF35D-CC2D-4204-ADDA-D576ECC50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1150" y="1924050"/>
            <a:ext cx="0" cy="781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7B8494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05B8A46-3644-4226-A7B4-40572A755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4475" y="1771650"/>
            <a:ext cx="19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9722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596274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96274"/>
                </a:solidFill>
                <a:latin typeface="Aptos"/>
                <a:ea typeface="Aptos"/>
                <a:cs typeface="Aptos"/>
              </a:rPr>
              <a:t>m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8CF4D9D-9F05-4F69-B952-10A9F137D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2625" y="1990725"/>
            <a:ext cx="495300" cy="590550"/>
          </a:xfrm>
          <a:custGeom xmlns:a="http://schemas.openxmlformats.org/drawingml/2006/main">
            <a:pathLst>
              <a:path w="495300" h="590550">
                <a:moveTo>
                  <a:pt x="495300" y="590550"/>
                </a:moveTo>
                <a:lnTo>
                  <a:pt x="0" y="590550"/>
                </a:lnTo>
                <a:lnTo>
                  <a:pt x="352425" y="0"/>
                </a:lnTo>
                <a:close/>
              </a:path>
            </a:pathLst>
          </a:custGeom>
          <a:solidFill xmlns:a="http://schemas.openxmlformats.org/drawingml/2006/main">
            <a:srgbClr val="DCE2E9"/>
          </a:solidFill>
          <a:ln xmlns:a="http://schemas.openxmlformats.org/drawingml/2006/main" w="15240">
            <a:solidFill>
              <a:srgbClr val="172033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19B6601-2D91-4601-B118-5780B8A11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1925" y="271462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0">
                <a:solidFill>
                  <a:srgbClr val="596274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96274"/>
                </a:solidFill>
                <a:latin typeface="Aptos"/>
                <a:ea typeface="Aptos"/>
                <a:cs typeface="Aptos"/>
              </a:rPr>
              <a:t>Answer: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625257A-FBAE-4E5C-BCBD-FD122D92C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4850" y="2886075"/>
            <a:ext cx="2646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7B8494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515BA0D-C623-4216-B2DB-C594B6D60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52900"/>
            <a:ext cx="2057400" cy="1543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7B8494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18C2CB6-FCEF-45AA-B248-0A677CA7C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4152900"/>
            <a:ext cx="0" cy="1543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C9CED8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56D8EC5-468B-45EF-A8F9-C8AAA2F72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152900"/>
            <a:ext cx="0" cy="1543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C9CED8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F8490B6-9119-4585-ABDA-3D5AF200A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4152900"/>
            <a:ext cx="0" cy="1543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C9CED8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1A2A3B5-7181-45A8-9B89-0D2D9183A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4152900"/>
            <a:ext cx="0" cy="1543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C9CED8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4B65B85-530A-443A-B569-3674CE2CF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4152900"/>
            <a:ext cx="0" cy="1543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C9CED8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EDD0D7E-B0DB-41D7-94DB-7FDC2DC6D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4152900"/>
            <a:ext cx="0" cy="1543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C9CED8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B1A489D-E5D3-478F-A1F0-F225C2A41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4152900"/>
            <a:ext cx="0" cy="1543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C9CED8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DDDC646-2BE6-4F4B-9173-A31C108FA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10075"/>
            <a:ext cx="2057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C9CED8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BAFB89E-C34C-4A7F-9C59-A3C8A4BE1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667250"/>
            <a:ext cx="2057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C9CED8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8ACD72A-5517-4573-9072-F9CC2A497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24425"/>
            <a:ext cx="2057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C9CED8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32F8113-5E34-454E-B0A0-E9615E8EA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81600"/>
            <a:ext cx="2057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C9CED8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2EF08A4-4528-4DC8-9FA5-586BAB1E0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438775"/>
            <a:ext cx="2057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C9CED8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97E273DC-FFC7-491C-A4A6-C7BC3E95E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4924425"/>
            <a:ext cx="514350" cy="514350"/>
          </a:xfrm>
          <a:custGeom xmlns:a="http://schemas.openxmlformats.org/drawingml/2006/main">
            <a:pathLst>
              <a:path w="514350" h="514350">
                <a:moveTo>
                  <a:pt x="0" y="514350"/>
                </a:moveTo>
                <a:lnTo>
                  <a:pt x="514350" y="51435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CE2E9"/>
          </a:solidFill>
          <a:ln xmlns:a="http://schemas.openxmlformats.org/drawingml/2006/main" w="16193">
            <a:solidFill>
              <a:srgbClr val="172033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19EEA8C8-E7E6-43B7-85E3-197E7AB10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267325"/>
            <a:ext cx="285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9994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8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7C7C5D94-E494-40F1-A057-5025A2E0C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267325"/>
            <a:ext cx="285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9994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8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B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A09F1F9D-DDFE-4775-A712-35EEA42FC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752975"/>
            <a:ext cx="285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9994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8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C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57390C52-8004-49C9-87FA-07F64F876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6000750"/>
            <a:ext cx="3189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8" b="0">
                <a:solidFill>
                  <a:srgbClr val="596274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96274"/>
                </a:solidFill>
                <a:latin typeface="Aptos"/>
                <a:ea typeface="Aptos"/>
                <a:cs typeface="Aptos"/>
              </a:rPr>
              <a:t>Draw the image on the grid.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F0560523-4246-43D6-85F7-E33BF16E0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0075" y="4238625"/>
            <a:ext cx="222885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7B8494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176916CB-93F1-4E3C-8FFE-ADCAB3720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7725" y="4238625"/>
            <a:ext cx="0" cy="1485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C9CED8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46D1D76D-76FA-46B6-9213-63DC686D4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5375" y="4238625"/>
            <a:ext cx="0" cy="1485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C9CED8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23F3D6BD-90EF-4FC9-AE9A-B13666E22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3025" y="4238625"/>
            <a:ext cx="0" cy="1485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C9CED8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5583A863-B2C1-4D48-92D2-6F2EE18D0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0675" y="4238625"/>
            <a:ext cx="0" cy="1485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C9CED8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7D38CE64-9036-4F73-9DCF-96E30DDF6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8325" y="4238625"/>
            <a:ext cx="0" cy="1485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C9CED8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3FE2ECEF-F177-491B-B8BF-DD2E0206D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5975" y="4238625"/>
            <a:ext cx="0" cy="1485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C9CED8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8A07F034-24A9-4849-9872-DAAD6187B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3625" y="4238625"/>
            <a:ext cx="0" cy="1485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C9CED8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F70855F4-2DBC-4C40-902B-CFC56ADF8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1275" y="4238625"/>
            <a:ext cx="0" cy="1485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C9CED8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50EE0DE1-BE50-41ED-A50C-1DCC7A816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0075" y="4486275"/>
            <a:ext cx="2228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C9CED8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77158626-27BB-4EB0-B004-44E6768ED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0075" y="4733925"/>
            <a:ext cx="2228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C9CED8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3089066C-5C9D-4961-8602-FC8017971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0075" y="4981575"/>
            <a:ext cx="2228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C9CED8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D4D64A16-AF56-4548-A566-FBBB2A1CE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0075" y="5229225"/>
            <a:ext cx="2228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C9CED8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DCF60580-EAF7-4052-BBB9-A715C8703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0075" y="5476875"/>
            <a:ext cx="2228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C9CED8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30603DE0-B4CA-4C16-B4D9-04E567EC7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7725" y="4486275"/>
            <a:ext cx="495300" cy="990600"/>
          </a:xfrm>
          <a:custGeom xmlns:a="http://schemas.openxmlformats.org/drawingml/2006/main">
            <a:pathLst>
              <a:path w="495300" h="990600">
                <a:moveTo>
                  <a:pt x="0" y="990600"/>
                </a:moveTo>
                <a:lnTo>
                  <a:pt x="495300" y="990600"/>
                </a:lnTo>
                <a:lnTo>
                  <a:pt x="495300" y="742950"/>
                </a:lnTo>
                <a:lnTo>
                  <a:pt x="247650" y="742950"/>
                </a:lnTo>
                <a:lnTo>
                  <a:pt x="24765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CE2E9"/>
          </a:solidFill>
          <a:ln xmlns:a="http://schemas.openxmlformats.org/drawingml/2006/main" w="16193">
            <a:solidFill>
              <a:srgbClr val="172033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98D41A44-D1C4-4A3A-9357-A12B55D3E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0675" y="4171950"/>
            <a:ext cx="0" cy="1619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172033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ABFFF643-708F-4B76-A23A-82E12A0F4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4475" y="4000500"/>
            <a:ext cx="19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9328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8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m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4D129B00-0CBC-472D-9E01-E56186DEB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7372350"/>
            <a:ext cx="22860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7B8494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74C9E36E-54B5-4D25-9116-429D60A96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7372350"/>
            <a:ext cx="0" cy="171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C9CED8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770EDE10-BEA2-403E-9972-40DAC83BA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7372350"/>
            <a:ext cx="0" cy="171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C9CED8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82C4B354-02D6-4E54-AF47-9169FB392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7372350"/>
            <a:ext cx="0" cy="171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C9CED8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2393F18B-AE81-4F9A-AA17-7E74CC490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7372350"/>
            <a:ext cx="0" cy="171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C9CED8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88CA9F8E-FB7D-4C0D-BF2E-2C463CFC5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525" y="7372350"/>
            <a:ext cx="0" cy="171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C9CED8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F0BCA7F9-D25A-4F00-ABD4-DA80801E7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7372350"/>
            <a:ext cx="0" cy="171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C9CED8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A7691B1B-64F8-4A8E-A957-E92DF132C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7372350"/>
            <a:ext cx="0" cy="171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C9CED8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09A3F101-BE9A-4128-912B-E60B84CCC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7658100"/>
            <a:ext cx="228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C9CED8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183AA134-9E9B-489D-8D89-8284411B5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7943850"/>
            <a:ext cx="228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C9CED8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35C9DA4E-2C43-419B-9F80-7FF087DFB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8229600"/>
            <a:ext cx="228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C9CED8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0A8C24ED-0AF0-4B6C-8AD9-FC943E6F0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8515350"/>
            <a:ext cx="228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C9CED8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57832D95-69AD-4F28-B255-9CBAA7356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8801100"/>
            <a:ext cx="228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C9CED8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BA26B87D-E1A7-40AE-85CD-218B249A0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7658100"/>
            <a:ext cx="571500" cy="571500"/>
          </a:xfrm>
          <a:custGeom xmlns:a="http://schemas.openxmlformats.org/drawingml/2006/main">
            <a:pathLst>
              <a:path w="571500" h="571500">
                <a:moveTo>
                  <a:pt x="0" y="0"/>
                </a:moveTo>
                <a:lnTo>
                  <a:pt x="0" y="571500"/>
                </a:lnTo>
                <a:lnTo>
                  <a:pt x="571500" y="0"/>
                </a:lnTo>
                <a:close/>
              </a:path>
            </a:pathLst>
          </a:custGeom>
          <a:solidFill xmlns:a="http://schemas.openxmlformats.org/drawingml/2006/main">
            <a:srgbClr val="DCE2E9"/>
          </a:solidFill>
          <a:ln xmlns:a="http://schemas.openxmlformats.org/drawingml/2006/main" w="17145">
            <a:solidFill>
              <a:srgbClr val="172033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B495C0BF-8820-430A-A22F-37B737E3B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7496175"/>
            <a:ext cx="285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9994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8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3EC0F2CC-8401-4860-8B7C-AC7D4648C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8239125"/>
            <a:ext cx="285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9994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8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B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8A9EEA91-8915-421D-AD61-6204D6771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7496175"/>
            <a:ext cx="285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9994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8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C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FFA6FA62-EA99-4740-BDA9-47C1FAA7C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5485" y="8195310"/>
            <a:ext cx="68580" cy="685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7620">
            <a:solidFill>
              <a:srgbClr val="172033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63F13F95-7BF3-430C-86B2-28B498D31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8239125"/>
            <a:ext cx="209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9328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8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P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C27A4920-8133-44BB-8EBE-6156FC931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875" y="7277100"/>
            <a:ext cx="1600200" cy="1800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7B8494"/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DDEEF640-330A-4787-A149-0B7A0E985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4900" y="7277100"/>
            <a:ext cx="0" cy="1800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C9CED8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DDF32100-6BB4-4BC1-B521-53DEE1D54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4925" y="7277100"/>
            <a:ext cx="0" cy="1800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C9CED8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FF7D6D4E-3971-45E5-80F5-8C4677CF5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4950" y="7277100"/>
            <a:ext cx="0" cy="1800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C9CED8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619F4B52-A211-4716-9B1E-A00073BDF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4975" y="7277100"/>
            <a:ext cx="0" cy="1800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C9CED8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2A89E414-48EE-4A78-8E20-449517A77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5000" y="7277100"/>
            <a:ext cx="0" cy="1800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C9CED8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81AA5A50-DF37-413F-B678-C0C691AD4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5025" y="7277100"/>
            <a:ext cx="0" cy="1800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C9CED8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B06C317F-2AF7-4F9D-AAC2-14D42AE09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5050" y="7277100"/>
            <a:ext cx="0" cy="1800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C9CED8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2A38B2EF-7103-49B4-AD36-9C1C76227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875" y="7477125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C9CED8"/>
            </a:solidFill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10B5E0B7-522A-4FBF-B006-8F7D8A8EE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875" y="767715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C9CED8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5BAFFF00-A17B-4EB0-B454-87C096006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875" y="7877175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C9CED8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773C12FC-C910-4D4C-8FA1-E908FCA26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875" y="807720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C9CED8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E23F5224-FFA7-4FC9-A6D2-AF4915186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875" y="8277225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C9CED8"/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D8668D02-3FC3-4414-9F9B-1EB2485A3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875" y="847725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C9CED8"/>
            </a:solidFill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8C0650BA-6393-4406-BF5F-FCB77C30D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875" y="8677275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C9CED8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C8C71457-CE1F-4EC2-9BD8-8DF631ADC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875" y="887730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C9CED8"/>
            </a:solidFill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EAA323FF-B44E-42B9-BF71-3F5A6C260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4888" y="8477250"/>
            <a:ext cx="400050" cy="400050"/>
          </a:xfrm>
          <a:custGeom xmlns:a="http://schemas.openxmlformats.org/drawingml/2006/main">
            <a:pathLst>
              <a:path w="400050" h="400050">
                <a:moveTo>
                  <a:pt x="0" y="400050"/>
                </a:moveTo>
                <a:lnTo>
                  <a:pt x="400050" y="400050"/>
                </a:lnTo>
                <a:lnTo>
                  <a:pt x="400050" y="200025"/>
                </a:lnTo>
                <a:lnTo>
                  <a:pt x="200025" y="200025"/>
                </a:lnTo>
                <a:lnTo>
                  <a:pt x="200025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CE2E9"/>
          </a:solidFill>
          <a:ln xmlns:a="http://schemas.openxmlformats.org/drawingml/2006/main" w="14288">
            <a:solidFill>
              <a:srgbClr val="172033"/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93622F16-C715-477D-BE3A-0C91B67D8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4988" y="8277225"/>
            <a:ext cx="400050" cy="400050"/>
          </a:xfrm>
          <a:custGeom xmlns:a="http://schemas.openxmlformats.org/drawingml/2006/main">
            <a:pathLst>
              <a:path w="400050" h="400050">
                <a:moveTo>
                  <a:pt x="0" y="400050"/>
                </a:moveTo>
                <a:lnTo>
                  <a:pt x="400050" y="400050"/>
                </a:lnTo>
                <a:lnTo>
                  <a:pt x="400050" y="200025"/>
                </a:lnTo>
                <a:lnTo>
                  <a:pt x="200025" y="200025"/>
                </a:lnTo>
                <a:lnTo>
                  <a:pt x="200025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CE2E9"/>
          </a:solidFill>
          <a:ln xmlns:a="http://schemas.openxmlformats.org/drawingml/2006/main" w="14288">
            <a:solidFill>
              <a:srgbClr val="172033"/>
            </a:solidFill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85363BDE-3BE7-4791-BABC-D55198E97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4988" y="7477125"/>
            <a:ext cx="400050" cy="400050"/>
          </a:xfrm>
          <a:custGeom xmlns:a="http://schemas.openxmlformats.org/drawingml/2006/main">
            <a:pathLst>
              <a:path w="400050" h="400050">
                <a:moveTo>
                  <a:pt x="0" y="0"/>
                </a:moveTo>
                <a:lnTo>
                  <a:pt x="400050" y="0"/>
                </a:lnTo>
                <a:lnTo>
                  <a:pt x="400050" y="200025"/>
                </a:lnTo>
                <a:lnTo>
                  <a:pt x="200025" y="200025"/>
                </a:lnTo>
                <a:lnTo>
                  <a:pt x="200025" y="400050"/>
                </a:lnTo>
                <a:lnTo>
                  <a:pt x="0" y="400050"/>
                </a:lnTo>
                <a:close/>
              </a:path>
            </a:pathLst>
          </a:custGeom>
          <a:solidFill xmlns:a="http://schemas.openxmlformats.org/drawingml/2006/main">
            <a:srgbClr val="DCE2E9"/>
          </a:solidFill>
          <a:ln xmlns:a="http://schemas.openxmlformats.org/drawingml/2006/main" w="14288">
            <a:solidFill>
              <a:srgbClr val="172033"/>
            </a:solidFill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CA85C1AD-5451-4F07-917F-71D9EF525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8200" y="8077200"/>
            <a:ext cx="1733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172033"/>
            </a:solidFill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3AA49558-9579-42AB-BCFF-86FB1F68A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1275" y="7991475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9722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m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E48E5164-DBAA-4F30-90BE-A7937ACAA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7260" y="8956358"/>
            <a:ext cx="19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9328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8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4FD474C5-6122-4664-8BF8-6B2019567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7360" y="8756333"/>
            <a:ext cx="19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9328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8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B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85BA80E1-59AB-4D73-B3B0-BD740C41C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7360" y="7206615"/>
            <a:ext cx="19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9328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8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C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39DD49D7-0BF9-4A90-8856-AAE64E361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1450" y="96442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9871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A to B: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F3FC1C56-C29A-4388-8718-921CD2417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2475" y="9815700"/>
            <a:ext cx="2589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7B8494"/>
            </a:solidFill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C8885D53-ADD7-4CC8-874A-0834933CA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1450" y="996810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9871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B to C: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7CAF108C-E384-4431-B329-B8E6F8B6A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2475" y="10139550"/>
            <a:ext cx="2589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7B8494"/>
            </a:solidFill>
            <a:prstDash val="solid"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FBEF8A20-A5D8-4148-BAD8-E2B903232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7875" y="504825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75" b="1">
                <a:solidFill>
                  <a:srgbClr val="1259B2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259B2"/>
                </a:solidFill>
                <a:latin typeface="Aptos"/>
                <a:ea typeface="Aptos"/>
                <a:cs typeface="Aptos"/>
              </a:rPr>
              <a:t>MARKING KEY</a:t>
            </a: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484EE4A7-484C-4304-9EBC-4D37F54A1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2705100"/>
            <a:ext cx="17145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88" b="1">
                <a:solidFill>
                  <a:srgbClr val="1259B2"/>
                </a:solidFill>
                <a:latin typeface="Aptos"/>
                <a:ea typeface="Aptos"/>
                <a:cs typeface="Aptos"/>
              </a:defRPr>
            </a:pPr>
            <a:r>
              <a:rPr sz="1088" b="1">
                <a:solidFill>
                  <a:srgbClr val="1259B2"/>
                </a:solidFill>
                <a:latin typeface="Aptos"/>
                <a:ea typeface="Aptos"/>
                <a:cs typeface="Aptos"/>
              </a:rPr>
              <a:t>Translation  [1]</a:t>
            </a: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97701CFD-2DF4-4280-9AF0-6037C3C45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2950" y="2705100"/>
            <a:ext cx="17145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88" b="1">
                <a:solidFill>
                  <a:srgbClr val="1259B2"/>
                </a:solidFill>
                <a:latin typeface="Aptos"/>
                <a:ea typeface="Aptos"/>
                <a:cs typeface="Aptos"/>
              </a:defRPr>
            </a:pPr>
            <a:r>
              <a:rPr sz="1088" b="1">
                <a:solidFill>
                  <a:srgbClr val="1259B2"/>
                </a:solidFill>
                <a:latin typeface="Aptos"/>
                <a:ea typeface="Aptos"/>
                <a:cs typeface="Aptos"/>
              </a:rPr>
              <a:t>Reflection  [1]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2B009B47-273A-44B2-AD2C-39453E492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4410075"/>
            <a:ext cx="514350" cy="514350"/>
          </a:xfrm>
          <a:custGeom xmlns:a="http://schemas.openxmlformats.org/drawingml/2006/main">
            <a:pathLst>
              <a:path w="514350" h="514350">
                <a:moveTo>
                  <a:pt x="0" y="514350"/>
                </a:moveTo>
                <a:lnTo>
                  <a:pt x="514350" y="51435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AF2FF"/>
          </a:solidFill>
          <a:ln xmlns:a="http://schemas.openxmlformats.org/drawingml/2006/main" w="20955">
            <a:solidFill>
              <a:srgbClr val="1259B2"/>
            </a:solidFill>
            <a:prstDash val="solid"/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BD0F9744-C39A-42D7-8300-3AC142A56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4752975"/>
            <a:ext cx="285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1">
                <a:solidFill>
                  <a:srgbClr val="1259B2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1259B2"/>
                </a:solidFill>
                <a:latin typeface="Aptos"/>
                <a:ea typeface="Aptos"/>
                <a:cs typeface="Aptos"/>
              </a:rPr>
              <a:t>A'</a:t>
            </a:r>
          </a:p>
        </p:txBody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437A4910-E746-41D7-B6AE-F6D118E45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4752975"/>
            <a:ext cx="285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1">
                <a:solidFill>
                  <a:srgbClr val="1259B2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1259B2"/>
                </a:solidFill>
                <a:latin typeface="Aptos"/>
                <a:ea typeface="Aptos"/>
                <a:cs typeface="Aptos"/>
              </a:rPr>
              <a:t>B'</a:t>
            </a:r>
          </a:p>
        </p:txBody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8A7010CF-B7BB-4003-ADD9-16CD74675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4238625"/>
            <a:ext cx="285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1">
                <a:solidFill>
                  <a:srgbClr val="1259B2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1259B2"/>
                </a:solidFill>
                <a:latin typeface="Aptos"/>
                <a:ea typeface="Aptos"/>
                <a:cs typeface="Aptos"/>
              </a:rPr>
              <a:t>C'</a:t>
            </a:r>
          </a:p>
        </p:txBody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1DF95A1D-72C8-4A87-9E36-BE23FEE1E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762625"/>
            <a:ext cx="32085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85" b="1">
                <a:solidFill>
                  <a:srgbClr val="1259B2"/>
                </a:solidFill>
                <a:latin typeface="Aptos"/>
                <a:ea typeface="Aptos"/>
                <a:cs typeface="Aptos"/>
              </a:defRPr>
            </a:pPr>
            <a:r>
              <a:rPr sz="885" b="1">
                <a:solidFill>
                  <a:srgbClr val="1259B2"/>
                </a:solidFill>
                <a:latin typeface="Aptos"/>
                <a:ea typeface="Aptos"/>
                <a:cs typeface="Aptos"/>
              </a:rPr>
              <a:t>All vertices 3 right [1]; all vertices 2 up, shape unchanged [1].</a:t>
            </a:r>
          </a:p>
        </p:txBody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C4A4CEA9-78F5-43D5-A212-33184FD19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8325" y="4486275"/>
            <a:ext cx="495300" cy="990600"/>
          </a:xfrm>
          <a:custGeom xmlns:a="http://schemas.openxmlformats.org/drawingml/2006/main">
            <a:pathLst>
              <a:path w="495300" h="990600">
                <a:moveTo>
                  <a:pt x="495300" y="990600"/>
                </a:moveTo>
                <a:lnTo>
                  <a:pt x="0" y="990600"/>
                </a:lnTo>
                <a:lnTo>
                  <a:pt x="0" y="742950"/>
                </a:lnTo>
                <a:lnTo>
                  <a:pt x="247650" y="742950"/>
                </a:lnTo>
                <a:lnTo>
                  <a:pt x="247650" y="0"/>
                </a:lnTo>
                <a:lnTo>
                  <a:pt x="495300" y="0"/>
                </a:lnTo>
                <a:close/>
              </a:path>
            </a:pathLst>
          </a:custGeom>
          <a:solidFill xmlns:a="http://schemas.openxmlformats.org/drawingml/2006/main">
            <a:srgbClr val="EAF2FF"/>
          </a:solidFill>
          <a:ln xmlns:a="http://schemas.openxmlformats.org/drawingml/2006/main" w="20955">
            <a:solidFill>
              <a:srgbClr val="1259B2"/>
            </a:solidFill>
            <a:prstDash val="solid"/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033C1108-4364-4B68-865B-086DD33B9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2400" y="5762625"/>
            <a:ext cx="32085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78" b="1">
                <a:solidFill>
                  <a:srgbClr val="1259B2"/>
                </a:solidFill>
                <a:latin typeface="Aptos"/>
                <a:ea typeface="Aptos"/>
                <a:cs typeface="Aptos"/>
              </a:defRPr>
            </a:pPr>
            <a:r>
              <a:rPr sz="878" b="1">
                <a:solidFill>
                  <a:srgbClr val="1259B2"/>
                </a:solidFill>
                <a:latin typeface="Aptos"/>
                <a:ea typeface="Aptos"/>
                <a:cs typeface="Aptos"/>
              </a:rPr>
              <a:t>Equal perpendicular distance from m [1]; correct mirrored orientation and size [1].</a:t>
            </a:r>
          </a:p>
        </p:txBody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1928D6FF-D939-41FC-8F15-C02327164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7658100"/>
            <a:ext cx="571500" cy="571500"/>
          </a:xfrm>
          <a:custGeom xmlns:a="http://schemas.openxmlformats.org/drawingml/2006/main">
            <a:pathLst>
              <a:path w="571500" h="571500">
                <a:moveTo>
                  <a:pt x="571500" y="0"/>
                </a:moveTo>
                <a:lnTo>
                  <a:pt x="0" y="0"/>
                </a:lnTo>
                <a:lnTo>
                  <a:pt x="571500" y="571500"/>
                </a:lnTo>
                <a:close/>
              </a:path>
            </a:pathLst>
          </a:custGeom>
          <a:solidFill xmlns:a="http://schemas.openxmlformats.org/drawingml/2006/main">
            <a:srgbClr val="EAF2FF"/>
          </a:solidFill>
          <a:ln xmlns:a="http://schemas.openxmlformats.org/drawingml/2006/main" w="20955">
            <a:solidFill>
              <a:srgbClr val="1259B2"/>
            </a:solidFill>
            <a:prstDash val="solid"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390C4EE3-4A1D-44FA-817D-DDDC5039D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7486650"/>
            <a:ext cx="285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1">
                <a:solidFill>
                  <a:srgbClr val="1259B2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1259B2"/>
                </a:solidFill>
                <a:latin typeface="Aptos"/>
                <a:ea typeface="Aptos"/>
                <a:cs typeface="Aptos"/>
              </a:rPr>
              <a:t>A'</a:t>
            </a:r>
          </a:p>
        </p:txBody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12F6E8D7-90A5-4936-9A44-22AC06875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5025" y="7334250"/>
            <a:ext cx="285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1">
                <a:solidFill>
                  <a:srgbClr val="1259B2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1259B2"/>
                </a:solidFill>
                <a:latin typeface="Aptos"/>
                <a:ea typeface="Aptos"/>
                <a:cs typeface="Aptos"/>
              </a:rPr>
              <a:t>B'</a:t>
            </a:r>
          </a:p>
        </p:txBody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DBD79F05-DA3A-44CA-AFC9-4B89DF127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8058150"/>
            <a:ext cx="285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1">
                <a:solidFill>
                  <a:srgbClr val="1259B2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1259B2"/>
                </a:solidFill>
                <a:latin typeface="Aptos"/>
                <a:ea typeface="Aptos"/>
                <a:cs typeface="Aptos"/>
              </a:rPr>
              <a:t>C'</a:t>
            </a:r>
          </a:p>
        </p:txBody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10BDBE6A-6B00-4B7C-B2A6-4E4A9A0A3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0044300"/>
            <a:ext cx="20955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1259B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259B2"/>
                </a:solidFill>
                <a:latin typeface="Aptos"/>
                <a:ea typeface="Aptos"/>
                <a:cs typeface="Aptos"/>
              </a:rPr>
              <a:t>A' [1]  B' [1]  C' [1]</a:t>
            </a:r>
          </a:p>
        </p:txBody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4B733417-6BA3-43F7-9F4E-91583DEBF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2000" y="9529950"/>
            <a:ext cx="25608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53" b="1">
                <a:solidFill>
                  <a:srgbClr val="1259B2"/>
                </a:solidFill>
                <a:latin typeface="Aptos"/>
                <a:ea typeface="Aptos"/>
                <a:cs typeface="Aptos"/>
              </a:defRPr>
            </a:pPr>
            <a:r>
              <a:rPr sz="953" b="1">
                <a:solidFill>
                  <a:srgbClr val="1259B2"/>
                </a:solidFill>
                <a:latin typeface="Aptos"/>
                <a:ea typeface="Aptos"/>
                <a:cs typeface="Aptos"/>
              </a:rPr>
              <a:t>translation [1], 4 right and 1 up [1].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953" b="1">
                <a:solidFill>
                  <a:srgbClr val="1259B2"/>
                </a:solidFill>
                <a:latin typeface="Aptos"/>
                <a:ea typeface="Aptos"/>
                <a:cs typeface="Aptos"/>
              </a:defRPr>
            </a:pPr>
            <a:r>
              <a:rPr sz="953" b="1">
                <a:solidFill>
                  <a:srgbClr val="1259B2"/>
                </a:solidFill>
                <a:latin typeface="Aptos"/>
                <a:ea typeface="Aptos"/>
                <a:cs typeface="Aptos"/>
              </a:rPr>
              <a:t>reflection in line m [1].</a:t>
            </a:r>
          </a:p>
        </p:txBody>
      </p:sp>
    </p:spTree>
    <p:extLst>
      <p:ext uri="{BB962C8B-B14F-4D97-AF65-F5344CB8AC3E}">
        <p14:creationId xmlns:p14="http://schemas.microsoft.com/office/powerpoint/2010/main" val="27181099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A2FAE44-6715-4D16-9EC9-37DA1C180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71450"/>
            <a:ext cx="4381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59627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96274"/>
                </a:solidFill>
                <a:latin typeface="Aptos"/>
                <a:ea typeface="Aptos"/>
                <a:cs typeface="Aptos"/>
              </a:rPr>
              <a:t>YEAR 6 MATHEMATICS ASSESSMENT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A836F6-B8D7-4E88-8658-5D3D1D226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619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Transformations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06C953-20D5-4387-8765-50C0BF627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4125" y="238125"/>
            <a:ext cx="1000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38" b="0">
                <a:solidFill>
                  <a:srgbClr val="596274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96274"/>
                </a:solidFill>
                <a:latin typeface="Aptos"/>
                <a:ea typeface="Aptos"/>
                <a:cs typeface="Aptos"/>
              </a:rPr>
              <a:t>Page 2 of 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DE83A6-8F80-43AC-9E0C-35261664A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800100"/>
            <a:ext cx="698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7203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4D6F61-7A1B-48A8-9A85-B67A8DDC1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962025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Q7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67B946-9877-4473-A97D-488618E2C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8425" y="990600"/>
            <a:ext cx="8477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13" b="1">
                <a:solidFill>
                  <a:srgbClr val="596274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596274"/>
                </a:solidFill>
                <a:latin typeface="Aptos"/>
                <a:ea typeface="Aptos"/>
                <a:cs typeface="Aptos"/>
              </a:rPr>
              <a:t>[4 marks]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1371B6-F569-4F5C-B79D-0147E1C73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304925"/>
            <a:ext cx="69123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38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238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Mia says Shape B was made from Shape A by a translation because it moved to the right and up.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A2F3B6-7DFD-4D21-A111-E6FEAA3FA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762125"/>
            <a:ext cx="6912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38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238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Is Mia correct? Name and describe the actual single transformation, mark its centre on the grid, and explain why a translation cannot map A exactly onto B.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DF3DCB-CF73-43EC-A710-5EC708FFF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647950"/>
            <a:ext cx="5372100" cy="3581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7B849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1A127F-2553-4FFD-BCFA-BBCB481A3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647950"/>
            <a:ext cx="0" cy="3581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C9CED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6A87A1-2601-43A9-86DB-9AE041ECF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2647950"/>
            <a:ext cx="0" cy="3581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C9CED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7BA323-11F5-4E42-91C1-31E5042F5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647950"/>
            <a:ext cx="0" cy="3581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C9CED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00F9A4-1F34-4C0A-A78A-9ECF99C82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2647950"/>
            <a:ext cx="0" cy="3581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C9CED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03D0DE-D519-48E3-B40C-65FA87046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647950"/>
            <a:ext cx="0" cy="3581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C9CED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BB99DAA-7CCA-4039-B83A-7EAC0740B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2647950"/>
            <a:ext cx="0" cy="3581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C9CED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0FAE8D-3901-4DDF-AE64-7F562F055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647950"/>
            <a:ext cx="0" cy="3581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C9CED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CC9626F-7817-473B-A657-66E789903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2647950"/>
            <a:ext cx="0" cy="3581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C9CED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0169AF3-7726-492F-B326-2185870EB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647950"/>
            <a:ext cx="0" cy="3581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C9CED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E29EFB2-D214-48A7-8AA4-55B333789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2647950"/>
            <a:ext cx="0" cy="3581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C9CED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BC02304-A0DA-44F3-8558-1F4F990B5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647950"/>
            <a:ext cx="0" cy="3581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C9CED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B052A5F-4692-4546-8606-D10118C1A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095625"/>
            <a:ext cx="5372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C9CED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16E4D4C-E21E-4AC2-9863-8D0C9CB30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543300"/>
            <a:ext cx="5372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C9CED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F71FAE5-E962-4475-9B34-FE72ECA98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990975"/>
            <a:ext cx="5372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C9CED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5888DFD-7DD0-4954-AB26-C95EA43BF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438650"/>
            <a:ext cx="5372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C9CED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7D7D70C-87DF-405E-913B-3C9A506C2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886325"/>
            <a:ext cx="5372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C9CED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7485F26-5007-41EF-98FE-6F286A2A0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334000"/>
            <a:ext cx="5372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C9CED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1E967F2-95C5-4447-B315-1C58CBFC9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781675"/>
            <a:ext cx="5372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C9CED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8D6B77E-CD4E-4C98-A67E-0944B9C22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990975"/>
            <a:ext cx="1790700" cy="1790700"/>
          </a:xfrm>
          <a:custGeom xmlns:a="http://schemas.openxmlformats.org/drawingml/2006/main">
            <a:pathLst>
              <a:path w="1790700" h="1790700">
                <a:moveTo>
                  <a:pt x="0" y="1343025"/>
                </a:moveTo>
                <a:lnTo>
                  <a:pt x="1343025" y="1343025"/>
                </a:lnTo>
                <a:lnTo>
                  <a:pt x="1343025" y="1790700"/>
                </a:lnTo>
                <a:lnTo>
                  <a:pt x="1790700" y="895350"/>
                </a:lnTo>
                <a:lnTo>
                  <a:pt x="1343025" y="0"/>
                </a:lnTo>
                <a:lnTo>
                  <a:pt x="1343025" y="447675"/>
                </a:lnTo>
                <a:lnTo>
                  <a:pt x="0" y="447675"/>
                </a:lnTo>
                <a:close/>
              </a:path>
            </a:pathLst>
          </a:custGeom>
          <a:solidFill xmlns:a="http://schemas.openxmlformats.org/drawingml/2006/main">
            <a:srgbClr val="DCE2E9"/>
          </a:solidFill>
          <a:ln xmlns:a="http://schemas.openxmlformats.org/drawingml/2006/main" w="19050">
            <a:solidFill>
              <a:srgbClr val="17203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8B6D345-AFE8-406C-A9F4-31EF65931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095625"/>
            <a:ext cx="1790700" cy="1790700"/>
          </a:xfrm>
          <a:custGeom xmlns:a="http://schemas.openxmlformats.org/drawingml/2006/main">
            <a:pathLst>
              <a:path w="1790700" h="1790700">
                <a:moveTo>
                  <a:pt x="1790700" y="447675"/>
                </a:moveTo>
                <a:lnTo>
                  <a:pt x="447675" y="447675"/>
                </a:lnTo>
                <a:lnTo>
                  <a:pt x="447675" y="0"/>
                </a:lnTo>
                <a:lnTo>
                  <a:pt x="0" y="895350"/>
                </a:lnTo>
                <a:lnTo>
                  <a:pt x="447675" y="1790700"/>
                </a:lnTo>
                <a:lnTo>
                  <a:pt x="447675" y="1343025"/>
                </a:lnTo>
                <a:lnTo>
                  <a:pt x="1790700" y="1343025"/>
                </a:lnTo>
                <a:close/>
              </a:path>
            </a:pathLst>
          </a:custGeom>
          <a:solidFill xmlns:a="http://schemas.openxmlformats.org/drawingml/2006/main">
            <a:srgbClr val="DCE2E9"/>
          </a:solidFill>
          <a:ln xmlns:a="http://schemas.openxmlformats.org/drawingml/2006/main" w="19050">
            <a:solidFill>
              <a:srgbClr val="17203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CA49F5E-C165-42B0-B0AE-20A39678B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9768" y="4752975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9722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F26B671-1766-42B6-B32B-CA157988C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1633" y="3857625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9722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B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5A19996-CBAF-4F28-91BA-A90D62F84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81775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Decision and transformation: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DB84C7A-51EA-490E-8926-F208C0BFB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7000875"/>
            <a:ext cx="672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AAB1BD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2B4E55F-92B0-41FF-8A42-60B13151B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7343775"/>
            <a:ext cx="672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AAB1BD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2B72C86-89C0-428C-BBB1-841CEDC49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7686675"/>
            <a:ext cx="672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AAB1BD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B3AFD9C-DB06-418B-B64B-31E37376F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80200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Explanation: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B033E51-29F3-4319-885E-075F970A7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8429625"/>
            <a:ext cx="672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AAB1BD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4945BE1-4AB4-4937-83FA-7EE485814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8772525"/>
            <a:ext cx="672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AAB1BD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C277FF1-4654-4825-B9D9-9BF637C42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9115425"/>
            <a:ext cx="672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AAB1BD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74A6E57-73AA-4312-87D1-84A2DEA9A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9458325"/>
            <a:ext cx="672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AAB1BD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081079C-6EEC-4840-A0D6-959CC36E1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9801225"/>
            <a:ext cx="672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AAB1BD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EF92330-B874-41ED-BADC-B4DC71599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7875" y="504825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75" b="1">
                <a:solidFill>
                  <a:srgbClr val="1259B2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259B2"/>
                </a:solidFill>
                <a:latin typeface="Aptos"/>
                <a:ea typeface="Aptos"/>
                <a:cs typeface="Aptos"/>
              </a:rPr>
              <a:t>MARKING KEY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0A445F1-C54D-4CFE-9FF1-1E18C11B2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43815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59B2"/>
          </a:solidFill>
          <a:ln xmlns:a="http://schemas.openxmlformats.org/drawingml/2006/main" w="7620">
            <a:solidFill>
              <a:srgbClr val="1259B2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FEBCA3A-1697-42C5-BC98-1C99EDAEE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200525"/>
            <a:ext cx="209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259B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259B2"/>
                </a:solidFill>
                <a:latin typeface="Aptos"/>
                <a:ea typeface="Aptos"/>
                <a:cs typeface="Aptos"/>
              </a:rPr>
              <a:t>P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564B50B-4CA1-46D1-BB67-47D36171D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934200"/>
            <a:ext cx="66456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88" b="1">
                <a:solidFill>
                  <a:srgbClr val="1259B2"/>
                </a:solidFill>
                <a:latin typeface="Aptos"/>
                <a:ea typeface="Aptos"/>
                <a:cs typeface="Aptos"/>
              </a:defRPr>
            </a:pPr>
            <a:r>
              <a:rPr sz="1088" b="1">
                <a:solidFill>
                  <a:srgbClr val="1259B2"/>
                </a:solidFill>
                <a:latin typeface="Aptos"/>
                <a:ea typeface="Aptos"/>
                <a:cs typeface="Aptos"/>
              </a:rPr>
              <a:t>No - Mia is not correct. [1]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088" b="1">
                <a:solidFill>
                  <a:srgbClr val="1259B2"/>
                </a:solidFill>
                <a:latin typeface="Aptos"/>
                <a:ea typeface="Aptos"/>
                <a:cs typeface="Aptos"/>
              </a:defRPr>
            </a:pPr>
            <a:r>
              <a:rPr sz="1088" b="1">
                <a:solidFill>
                  <a:srgbClr val="1259B2"/>
                </a:solidFill>
                <a:latin typeface="Aptos"/>
                <a:ea typeface="Aptos"/>
                <a:cs typeface="Aptos"/>
              </a:rPr>
              <a:t>The actual transformation is a 180° rotation [1] about centre P, the midpoint between matching vertices. [1]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EA90C64-D22C-478F-B380-DF9923218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439150"/>
            <a:ext cx="66456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88" b="1">
                <a:solidFill>
                  <a:srgbClr val="1259B2"/>
                </a:solidFill>
                <a:latin typeface="Aptos"/>
                <a:ea typeface="Aptos"/>
                <a:cs typeface="Aptos"/>
              </a:defRPr>
            </a:pPr>
            <a:r>
              <a:rPr sz="1088" b="1">
                <a:solidFill>
                  <a:srgbClr val="1259B2"/>
                </a:solidFill>
                <a:latin typeface="Aptos"/>
                <a:ea typeface="Aptos"/>
                <a:cs typeface="Aptos"/>
              </a:rPr>
              <a:t>A translation preserves orientation, but the arrow has turned to face the opposite direction. [1]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15E0AAD-5010-4F2E-9A1E-AB0CF5490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353550"/>
            <a:ext cx="66456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85" b="0">
                <a:solidFill>
                  <a:srgbClr val="1259B2"/>
                </a:solidFill>
                <a:latin typeface="Aptos"/>
                <a:ea typeface="Aptos"/>
                <a:cs typeface="Aptos"/>
              </a:defRPr>
            </a:pPr>
            <a:r>
              <a:rPr sz="885" b="0">
                <a:solidFill>
                  <a:srgbClr val="1259B2"/>
                </a:solidFill>
                <a:latin typeface="Aptos"/>
                <a:ea typeface="Aptos"/>
                <a:cs typeface="Aptos"/>
              </a:rPr>
              <a:t>Accept equivalent wording. The centre must be correctly located at the grid intersection shown. Do not award the description mark for 'rotation' alone without 180°.</a:t>
            </a:r>
          </a:p>
        </p:txBody>
      </p:sp>
    </p:spTree>
    <p:extLst>
      <p:ext uri="{BB962C8B-B14F-4D97-AF65-F5344CB8AC3E}">
        <p14:creationId xmlns:p14="http://schemas.microsoft.com/office/powerpoint/2010/main" val="135714508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4A91BC4-9B3E-4F7B-A35D-ED8FF567E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71450"/>
            <a:ext cx="4381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59627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96274"/>
                </a:solidFill>
                <a:latin typeface="Aptos"/>
                <a:ea typeface="Aptos"/>
                <a:cs typeface="Aptos"/>
              </a:rPr>
              <a:t>YEAR 6 MATHEMATICS ASSESSMENT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C2B8F5-0C0A-41E1-A61C-1F2C67702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619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Transformations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64E029-A9B7-4AB6-BE1E-44276BFEE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4125" y="238125"/>
            <a:ext cx="1000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38" b="0">
                <a:solidFill>
                  <a:srgbClr val="596274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96274"/>
                </a:solidFill>
                <a:latin typeface="Aptos"/>
                <a:ea typeface="Aptos"/>
                <a:cs typeface="Aptos"/>
              </a:rPr>
              <a:t>Page 3 of 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BBB231-B73E-4634-A7D7-153A6631C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800100"/>
            <a:ext cx="698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7203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018BE2-4F77-45C3-879A-567B1F616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962025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Q8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CFFE4A-F836-4EA3-A9C0-B0CFAAEA0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8425" y="990600"/>
            <a:ext cx="8477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13" b="1">
                <a:solidFill>
                  <a:srgbClr val="596274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596274"/>
                </a:solidFill>
                <a:latin typeface="Aptos"/>
                <a:ea typeface="Aptos"/>
                <a:cs typeface="Aptos"/>
              </a:rPr>
              <a:t>[4 marks]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838339-AD72-4B54-BC0B-9052D370D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304925"/>
            <a:ext cx="69123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38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238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Triangle ABC must map exactly onto the outlined target. Use each transformation card once. The order is not given.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BF44D3-223E-4A78-85CF-31F348149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76425"/>
            <a:ext cx="2809875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7B849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E6594D-88C3-4F42-B808-71651BDFB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09775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63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163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CARD R  Reflect in the y-axis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5CA5EA-2745-43A4-932E-7B6C9C166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1876425"/>
            <a:ext cx="2809875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7B849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D39FC9-9FF2-460C-90F0-EE22DABA5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2009775"/>
            <a:ext cx="2619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9703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63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163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CARD T  Translate 1 right and 3 down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4D1D0A-5EAF-47C4-BB9E-A924A189B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2800350"/>
            <a:ext cx="3886200" cy="388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7B849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11F75A-8244-4034-82C0-2EA9C9A0B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800350"/>
            <a:ext cx="0" cy="3886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C9CED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E8AA5E-3579-406D-BF0B-BCF32820C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3124200"/>
            <a:ext cx="3886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C9CED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397C2C-6865-4164-B2EA-CBB6EC325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800350"/>
            <a:ext cx="0" cy="3886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C9CED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20C145-6E6C-4697-AD5D-25319229E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3448050"/>
            <a:ext cx="3886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C9CED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15190B6-4784-46F6-8F8C-B502D337B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800350"/>
            <a:ext cx="0" cy="3886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C9CED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4C19334-2FBC-479A-9AB3-7DC0B227E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3771900"/>
            <a:ext cx="3886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C9CED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434DEBB-CCBD-427C-B990-6390439E1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" y="2800350"/>
            <a:ext cx="0" cy="3886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C9CED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D9A9C8D-BB92-46A7-A56D-DF813D271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4095750"/>
            <a:ext cx="3886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C9CED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485C4AF-90F3-4044-8602-35E6FA81B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825" y="2800350"/>
            <a:ext cx="0" cy="3886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C9CED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F820412-C83A-47CF-9A9D-8C21EFA09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4419600"/>
            <a:ext cx="3886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C9CED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9ABA16C-0D0C-4904-A982-CBE7E674B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2800350"/>
            <a:ext cx="0" cy="3886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17203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2450B76-029B-4DDB-979A-28431CD34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4743450"/>
            <a:ext cx="3886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17203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896231F-E7BF-431D-A91E-3B8B79443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2800350"/>
            <a:ext cx="0" cy="3886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C9CED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EF18644-112F-4FC2-96E5-23C74EDD6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5067300"/>
            <a:ext cx="3886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C9CED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A133D6F-6AB9-47E8-9EA2-51F0912AB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800350"/>
            <a:ext cx="0" cy="3886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C9CED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85FDFF4-18F8-414B-B886-53263FB16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5391150"/>
            <a:ext cx="3886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C9CED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4D8F12D-ABFB-40D0-9014-CEB19AF02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2800350"/>
            <a:ext cx="0" cy="3886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C9CED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1AA13FB-C081-43CE-997D-A30DA233A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5715000"/>
            <a:ext cx="3886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C9CED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653C229-E8B2-49BE-A070-81C0F5FED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2800350"/>
            <a:ext cx="0" cy="3886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C9CED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7059F5E-151D-438B-85D5-DBB82A897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6038850"/>
            <a:ext cx="3886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C9CED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307A54B-D1F7-437D-A3DA-FDD6DB45D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2800350"/>
            <a:ext cx="0" cy="3886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C9CED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671A81B-0D73-4550-9A2A-D0FD16044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6362700"/>
            <a:ext cx="3886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C9CED8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2C37576-5166-4B3A-9139-A376EF7EC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4762500"/>
            <a:ext cx="190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713" b="0">
                <a:solidFill>
                  <a:srgbClr val="596274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96274"/>
                </a:solidFill>
                <a:latin typeface="Aptos"/>
                <a:ea typeface="Aptos"/>
                <a:cs typeface="Aptos"/>
              </a:rPr>
              <a:t>-6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936AABB-3898-41C8-838D-0E240FA10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6619875"/>
            <a:ext cx="190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713" b="0">
                <a:solidFill>
                  <a:srgbClr val="596274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96274"/>
                </a:solidFill>
                <a:latin typeface="Aptos"/>
                <a:ea typeface="Aptos"/>
                <a:cs typeface="Aptos"/>
              </a:rPr>
              <a:t>-6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281526A-15D8-4891-87DE-F790FBF9B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762500"/>
            <a:ext cx="190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713" b="0">
                <a:solidFill>
                  <a:srgbClr val="596274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96274"/>
                </a:solidFill>
                <a:latin typeface="Aptos"/>
                <a:ea typeface="Aptos"/>
                <a:cs typeface="Aptos"/>
              </a:rPr>
              <a:t>-5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E113A65-1F11-4A34-8E9C-1B0ADAA2F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6296025"/>
            <a:ext cx="190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713" b="0">
                <a:solidFill>
                  <a:srgbClr val="596274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96274"/>
                </a:solidFill>
                <a:latin typeface="Aptos"/>
                <a:ea typeface="Aptos"/>
                <a:cs typeface="Aptos"/>
              </a:rPr>
              <a:t>-5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3F0470B-F307-4887-9A42-3593FE1BD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4762500"/>
            <a:ext cx="190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713" b="0">
                <a:solidFill>
                  <a:srgbClr val="596274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96274"/>
                </a:solidFill>
                <a:latin typeface="Aptos"/>
                <a:ea typeface="Aptos"/>
                <a:cs typeface="Aptos"/>
              </a:rPr>
              <a:t>-4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19C40CE-4405-4343-A3A2-88231C3DE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5972175"/>
            <a:ext cx="190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713" b="0">
                <a:solidFill>
                  <a:srgbClr val="596274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96274"/>
                </a:solidFill>
                <a:latin typeface="Aptos"/>
                <a:ea typeface="Aptos"/>
                <a:cs typeface="Aptos"/>
              </a:rPr>
              <a:t>-4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79EDAB1-5103-4460-A292-57682D93D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762500"/>
            <a:ext cx="190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713" b="0">
                <a:solidFill>
                  <a:srgbClr val="596274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96274"/>
                </a:solidFill>
                <a:latin typeface="Aptos"/>
                <a:ea typeface="Aptos"/>
                <a:cs typeface="Aptos"/>
              </a:rPr>
              <a:t>-3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0F050E7-053C-4782-B057-9645230D9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5648325"/>
            <a:ext cx="190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713" b="0">
                <a:solidFill>
                  <a:srgbClr val="596274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96274"/>
                </a:solidFill>
                <a:latin typeface="Aptos"/>
                <a:ea typeface="Aptos"/>
                <a:cs typeface="Aptos"/>
              </a:rPr>
              <a:t>-3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D2FF65B-15C7-4F9A-8257-8B7C0B5DB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4762500"/>
            <a:ext cx="190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713" b="0">
                <a:solidFill>
                  <a:srgbClr val="596274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96274"/>
                </a:solidFill>
                <a:latin typeface="Aptos"/>
                <a:ea typeface="Aptos"/>
                <a:cs typeface="Aptos"/>
              </a:rPr>
              <a:t>-2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41D4A3A-C2C1-4315-9271-BF1ABA4E8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5324475"/>
            <a:ext cx="190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713" b="0">
                <a:solidFill>
                  <a:srgbClr val="596274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96274"/>
                </a:solidFill>
                <a:latin typeface="Aptos"/>
                <a:ea typeface="Aptos"/>
                <a:cs typeface="Aptos"/>
              </a:rPr>
              <a:t>-2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20989F2-C9CF-493D-980E-A315B1CDE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575" y="4762500"/>
            <a:ext cx="190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713" b="0">
                <a:solidFill>
                  <a:srgbClr val="596274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96274"/>
                </a:solidFill>
                <a:latin typeface="Aptos"/>
                <a:ea typeface="Aptos"/>
                <a:cs typeface="Aptos"/>
              </a:rPr>
              <a:t>-1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E4C4412-D591-4B67-AB32-7975F69D5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5000625"/>
            <a:ext cx="190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713" b="0">
                <a:solidFill>
                  <a:srgbClr val="596274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96274"/>
                </a:solidFill>
                <a:latin typeface="Aptos"/>
                <a:ea typeface="Aptos"/>
                <a:cs typeface="Aptos"/>
              </a:rPr>
              <a:t>-1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C3F2012-6F79-4851-818A-F013CDD6D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4762500"/>
            <a:ext cx="190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713" b="0">
                <a:solidFill>
                  <a:srgbClr val="596274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96274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94DB126-5BAC-4CD4-BA85-D1AF7242A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4352925"/>
            <a:ext cx="190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713" b="0">
                <a:solidFill>
                  <a:srgbClr val="596274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96274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C9417F0-6C93-40C5-A146-4E7F3FB1A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4762500"/>
            <a:ext cx="190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713" b="0">
                <a:solidFill>
                  <a:srgbClr val="596274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96274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C76E91B-6275-4BA7-967D-EA7DF4022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4029075"/>
            <a:ext cx="190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713" b="0">
                <a:solidFill>
                  <a:srgbClr val="596274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96274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46D3526-3E6D-4001-8FD5-24CE8497C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" y="4762500"/>
            <a:ext cx="190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713" b="0">
                <a:solidFill>
                  <a:srgbClr val="596274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96274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EAF8643-2840-467F-9276-84DC59950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3705225"/>
            <a:ext cx="190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713" b="0">
                <a:solidFill>
                  <a:srgbClr val="596274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96274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7592DE4-1BEB-4242-99D4-FEDC59E28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4762500"/>
            <a:ext cx="190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713" b="0">
                <a:solidFill>
                  <a:srgbClr val="596274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96274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F38394E5-C09F-4B61-B33E-A5F60518A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3381375"/>
            <a:ext cx="190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713" b="0">
                <a:solidFill>
                  <a:srgbClr val="596274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96274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DD99E3C-AFCF-4D1E-8E33-D738725BA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4762500"/>
            <a:ext cx="190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713" b="0">
                <a:solidFill>
                  <a:srgbClr val="596274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96274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FF96EAE3-6902-493F-9D51-1A7955DBE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3057525"/>
            <a:ext cx="190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713" b="0">
                <a:solidFill>
                  <a:srgbClr val="596274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96274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620B57DB-840C-4017-99D2-AE5B9511B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657725"/>
            <a:ext cx="152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9722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x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0873F91C-CC0B-4AAC-950E-8D37C1D8C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2819400"/>
            <a:ext cx="152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9722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y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1B9F8C8B-4B03-4A00-A6F9-AF5144481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771900"/>
            <a:ext cx="647700" cy="647700"/>
          </a:xfrm>
          <a:custGeom xmlns:a="http://schemas.openxmlformats.org/drawingml/2006/main">
            <a:pathLst>
              <a:path w="647700" h="647700">
                <a:moveTo>
                  <a:pt x="0" y="647700"/>
                </a:moveTo>
                <a:lnTo>
                  <a:pt x="647700" y="6477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CE2E9"/>
          </a:solidFill>
          <a:ln xmlns:a="http://schemas.openxmlformats.org/drawingml/2006/main" w="19050">
            <a:solidFill>
              <a:srgbClr val="172033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CC3391F4-DAF2-41E3-86F1-B26FC2813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4743450"/>
            <a:ext cx="647700" cy="647700"/>
          </a:xfrm>
          <a:custGeom xmlns:a="http://schemas.openxmlformats.org/drawingml/2006/main">
            <a:pathLst>
              <a:path w="647700" h="647700">
                <a:moveTo>
                  <a:pt x="647700" y="647700"/>
                </a:moveTo>
                <a:lnTo>
                  <a:pt x="0" y="647700"/>
                </a:lnTo>
                <a:lnTo>
                  <a:pt x="64770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20955">
            <a:solidFill>
              <a:srgbClr val="7B8494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460D1E04-228F-43A0-94C1-E8E29C313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4448175"/>
            <a:ext cx="209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9328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8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1A5FF2F1-E26F-44DD-B9A2-2CBECA82C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4448175"/>
            <a:ext cx="209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9328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8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B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1C529A32-0543-4E4F-BB4B-6342A5E65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581400"/>
            <a:ext cx="209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9328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8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C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AD6ED989-7865-40F4-AEFB-CC8D61973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4197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9722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596274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96274"/>
                </a:solidFill>
                <a:latin typeface="Aptos"/>
                <a:ea typeface="Aptos"/>
                <a:cs typeface="Aptos"/>
              </a:rPr>
              <a:t>A''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B2CB025E-E53F-4114-803D-3F9E0899E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54197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9722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596274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96274"/>
                </a:solidFill>
                <a:latin typeface="Aptos"/>
                <a:ea typeface="Aptos"/>
                <a:cs typeface="Aptos"/>
              </a:rPr>
              <a:t>B''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767CC3FB-AE42-44E7-A910-9EEDC7604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5624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9722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596274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96274"/>
                </a:solidFill>
                <a:latin typeface="Aptos"/>
                <a:ea typeface="Aptos"/>
                <a:cs typeface="Aptos"/>
              </a:rPr>
              <a:t>C''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3117EE80-1A14-44E3-BF7E-8A4FD51B3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6448425"/>
            <a:ext cx="971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788" b="0">
                <a:solidFill>
                  <a:srgbClr val="596274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96274"/>
                </a:solidFill>
                <a:latin typeface="Aptos"/>
                <a:ea typeface="Aptos"/>
                <a:cs typeface="Aptos"/>
              </a:rPr>
              <a:t>outlined target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D0AB3769-524C-4341-84D4-289E132A7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2800350"/>
            <a:ext cx="26641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4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14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a) Write the correct order of the cards.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54CC906D-C2BC-4531-8AEE-D349117B6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3400425"/>
            <a:ext cx="2664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AAB1BD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309B7DA7-41BB-4D8E-B15A-FFCCD50EF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3724275"/>
            <a:ext cx="2664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AAB1BD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4A2796EE-7DB4-4DA9-B4C8-CFBE49921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4067175"/>
            <a:ext cx="26641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4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14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b) Draw and label the intermediate triangle A'B'C' on the grid.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D2E2FE9F-EF10-4299-BA77-4BA823470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4800600"/>
            <a:ext cx="26641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88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088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Coordinates: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2938B581-8786-4741-AD23-7582C9179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5191125"/>
            <a:ext cx="2664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AAB1BD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6C4E7FF8-1CC2-48B1-9398-BEF346870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5514975"/>
            <a:ext cx="2664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AAB1BD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E5E73B0A-1D4E-440E-8A38-B77DB12CE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5838825"/>
            <a:ext cx="2664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AAB1BD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3608F8AA-A1F3-4DF1-970A-042B16AE6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6229350"/>
            <a:ext cx="26641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4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14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c) Write the final coordinates to verify that the target is reached.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DD9FA5ED-5827-458D-95E4-7B04FA00F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7000875"/>
            <a:ext cx="2664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AAB1BD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6DF66CFB-0D5D-4547-BED4-FA13463B4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7324725"/>
            <a:ext cx="2664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AAB1BD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8E9A1D78-FC5C-4B24-8F38-F87D8D2EB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7648575"/>
            <a:ext cx="2664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AAB1BD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D0E99B20-7E45-4DCE-8691-E1DFE84F0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8058150"/>
            <a:ext cx="26641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4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14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d) If the cards are reversed, where does vertex C finish? Explain why that proves the reversed order fails.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E0A41A2B-23A2-4681-AA45-117282C19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9048750"/>
            <a:ext cx="2664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AAB1BD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6C6135BC-8D9C-4018-B83E-935F55EE1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9372600"/>
            <a:ext cx="2664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AAB1BD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6139EB7C-D8E5-43EF-9266-C37C06689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9696450"/>
            <a:ext cx="2664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AAB1BD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1D0C6051-3788-40E9-AA4D-F8041E044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10020300"/>
            <a:ext cx="2664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AAB1BD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EF98CA4C-DC41-44AD-B2C2-1F11B939A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7875" y="504825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75" b="1">
                <a:solidFill>
                  <a:srgbClr val="1259B2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259B2"/>
                </a:solidFill>
                <a:latin typeface="Aptos"/>
                <a:ea typeface="Aptos"/>
                <a:cs typeface="Aptos"/>
              </a:rPr>
              <a:t>MARKING KEY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DCA299ED-234B-4131-95B8-3E0B0202F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771900"/>
            <a:ext cx="647700" cy="647700"/>
          </a:xfrm>
          <a:custGeom xmlns:a="http://schemas.openxmlformats.org/drawingml/2006/main">
            <a:pathLst>
              <a:path w="647700" h="647700">
                <a:moveTo>
                  <a:pt x="647700" y="647700"/>
                </a:moveTo>
                <a:lnTo>
                  <a:pt x="0" y="647700"/>
                </a:lnTo>
                <a:lnTo>
                  <a:pt x="647700" y="0"/>
                </a:lnTo>
                <a:close/>
              </a:path>
            </a:pathLst>
          </a:custGeom>
          <a:solidFill xmlns:a="http://schemas.openxmlformats.org/drawingml/2006/main">
            <a:srgbClr val="EAF2FF"/>
          </a:solidFill>
          <a:ln xmlns:a="http://schemas.openxmlformats.org/drawingml/2006/main" w="21908">
            <a:solidFill>
              <a:srgbClr val="1259B2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61374548-F206-4BD1-A27D-3161277CB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422910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1">
                <a:solidFill>
                  <a:srgbClr val="1259B2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1259B2"/>
                </a:solidFill>
                <a:latin typeface="Aptos"/>
                <a:ea typeface="Aptos"/>
                <a:cs typeface="Aptos"/>
              </a:rPr>
              <a:t>A'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D101B7A0-94C0-44E9-A7E3-47EF909EB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422910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1">
                <a:solidFill>
                  <a:srgbClr val="1259B2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1259B2"/>
                </a:solidFill>
                <a:latin typeface="Aptos"/>
                <a:ea typeface="Aptos"/>
                <a:cs typeface="Aptos"/>
              </a:rPr>
              <a:t>B'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C137333D-EEAB-4203-81D0-0349DCE1C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358140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1">
                <a:solidFill>
                  <a:srgbClr val="1259B2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1259B2"/>
                </a:solidFill>
                <a:latin typeface="Aptos"/>
                <a:ea typeface="Aptos"/>
                <a:cs typeface="Aptos"/>
              </a:rPr>
              <a:t>C'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2A851A95-9EEB-4572-912E-46C192CD2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3314700"/>
            <a:ext cx="2664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1259B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259B2"/>
                </a:solidFill>
                <a:latin typeface="Aptos"/>
                <a:ea typeface="Aptos"/>
                <a:cs typeface="Aptos"/>
              </a:rPr>
              <a:t>R then T. [1]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99F9BA48-2A24-45D0-8CAC-CCB794CCA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4953000"/>
            <a:ext cx="26641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259B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259B2"/>
                </a:solidFill>
                <a:latin typeface="Aptos"/>
                <a:ea typeface="Aptos"/>
                <a:cs typeface="Aptos"/>
              </a:rPr>
              <a:t>A'(4, 1), B'(2, 1), C'(4, 3). [1]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21490D4A-51C5-4868-9113-54CFF549A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6838950"/>
            <a:ext cx="266415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259B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259B2"/>
                </a:solidFill>
                <a:latin typeface="Aptos"/>
                <a:ea typeface="Aptos"/>
                <a:cs typeface="Aptos"/>
              </a:rPr>
              <a:t>A''(5, -2), B''(3, -2), C''(5, 0). [1]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3A208C5A-7CC6-4870-A3B4-7F072822E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8886825"/>
            <a:ext cx="266415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259B2"/>
                </a:solidFill>
                <a:latin typeface="Aptos"/>
                <a:ea typeface="Aptos"/>
                <a:cs typeface="Aptos"/>
              </a:defRPr>
            </a:pPr>
            <a:r>
              <a:rPr sz="990" b="1">
                <a:solidFill>
                  <a:srgbClr val="1259B2"/>
                </a:solidFill>
                <a:latin typeface="Aptos"/>
                <a:ea typeface="Aptos"/>
                <a:cs typeface="Aptos"/>
              </a:rPr>
              <a:t>Reversed: C(-4, 3) -&gt; T -&gt; (-3, 0) -&gt; R -&gt; (3, 0). The target C'' is (5, 0), so the reversed order fails. [1]</a:t>
            </a:r>
          </a:p>
        </p:txBody>
      </p:sp>
    </p:spTree>
    <p:extLst>
      <p:ext uri="{BB962C8B-B14F-4D97-AF65-F5344CB8AC3E}">
        <p14:creationId xmlns:p14="http://schemas.microsoft.com/office/powerpoint/2010/main" val="125213160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2026-07-29T06:43:34.9830000Z</dcterms:created>
  <dcterms:modified xsi:type="dcterms:W3CDTF">2026-07-29T06:43:34.9830000Z</dcterms:modified>
</coreProperties>
</file>